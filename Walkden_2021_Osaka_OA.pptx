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9" r:id="rId3"/>
    <p:sldId id="290" r:id="rId4"/>
    <p:sldId id="291" r:id="rId5"/>
    <p:sldId id="287" r:id="rId6"/>
    <p:sldId id="284" r:id="rId7"/>
    <p:sldId id="261" r:id="rId8"/>
    <p:sldId id="283" r:id="rId9"/>
    <p:sldId id="288" r:id="rId10"/>
    <p:sldId id="265" r:id="rId11"/>
    <p:sldId id="264" r:id="rId12"/>
    <p:sldId id="262" r:id="rId13"/>
    <p:sldId id="266" r:id="rId14"/>
    <p:sldId id="263" r:id="rId15"/>
    <p:sldId id="275" r:id="rId16"/>
    <p:sldId id="286" r:id="rId17"/>
    <p:sldId id="282" r:id="rId18"/>
    <p:sldId id="276" r:id="rId19"/>
    <p:sldId id="277" r:id="rId20"/>
    <p:sldId id="289" r:id="rId21"/>
    <p:sldId id="278" r:id="rId22"/>
    <p:sldId id="279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33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75" autoAdjust="0"/>
    <p:restoredTop sz="95196" autoAdjust="0"/>
  </p:normalViewPr>
  <p:slideViewPr>
    <p:cSldViewPr snapToGrid="0" snapToObjects="1" showGuides="1">
      <p:cViewPr varScale="1">
        <p:scale>
          <a:sx n="91" d="100"/>
          <a:sy n="91" d="100"/>
        </p:scale>
        <p:origin x="166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08BA37-FA3D-4A49-AD48-AE660CCC5629}" type="datetimeFigureOut">
              <a:rPr lang="en-US" smtClean="0"/>
              <a:pPr/>
              <a:t>8/5/21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2DA200-2723-1143-A590-CCCD409F76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50654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CE3F0-61A7-1747-8380-A1C1FF54318A}" type="datetimeFigureOut">
              <a:rPr lang="en-US" smtClean="0"/>
              <a:pPr/>
              <a:t>8/5/21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C58E84-4A93-6A40-A55B-868CD1857D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56974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F9A733-B3EE-0842-AC98-527AB3ABA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Osaka (online), 6th August 2021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67C55B-A391-0643-A19D-BCFA5DC54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and changes in the linguistics publishing landscape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D0D5A4-863C-4044-820F-B3F1F5D13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George Walkden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69A3B4-E983-2048-9DE9-B1F116E39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Osaka (online), 6th August 2021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B1F7BA-01B7-0D4F-85C9-02F5E32B6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and changes in the linguistics publishing landscape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6617C0-BE77-2040-BEDC-41561A249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George Walkden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055447-3224-1B47-87CD-BEFB3C32F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Osaka (online), 6th August 2021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1F91B7-1C3C-724D-B31D-6270153CC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and changes in the linguistics publishing landscape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528DF0-E695-154E-8856-901E351C2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George Walkden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A660473-F4C5-7F42-93F0-91F0EA136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Osaka (online), 6th August 2021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F3D64BB-8DE7-F449-AC4B-3F27A0E73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and changes in the linguistics publishing landscape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B388E6A-461F-4046-9914-28162E01E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George Walkden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63C7531-3DA5-4348-8E5B-970D381D4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Osaka (online), 6th August 2021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669ED0B-2373-4247-BA86-771ABEBE0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and changes in the linguistics publishing landscape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58824D0-5023-3B45-95F0-68DEB3F26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George Walkden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01ED60-78BD-4745-9554-7F4853CB9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Osaka (online), 6th August 2021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1B07980-49FD-2D40-950D-70B81A6AE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and changes in the linguistics publishing landscape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DFABC67-CF14-D344-8273-9C04FAF39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George Walkden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68BA997-6D82-8F45-9039-5CF871F71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Osaka (online), 6th August 2021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BA8186C-D15F-E143-979A-88F63D5AD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and changes in the linguistics publishing landscape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D31C0B7-9469-FE4C-AB6C-FAB318C0D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George Walkden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105257A-5E99-124A-955A-9CB8C338A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Osaka (online), 6th August 2021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F18ED46-B097-134A-814E-CAA8DC710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and changes in the linguistics publishing landscape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112506A-CE96-7642-8D32-703B2578F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George Walkden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2574BD7-659B-7448-AABE-18AC17A5E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Osaka (online), 6th August 2021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6660CE9-0633-0B46-B06A-37DF2176A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and changes in the linguistics publishing landscape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9296C14-CE06-274E-B30B-CC2A16742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George Walkden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4EE194-3C9B-7B41-99B0-4E4BB99C1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Osaka (online), 6th August 2021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EFB148-EAB4-284F-B264-9F75A916D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and changes in the linguistics publishing landscape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0DD13F-364F-1346-8893-A0750991F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George Walkden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val 23"/>
          <p:cNvSpPr/>
          <p:nvPr userDrawn="1"/>
        </p:nvSpPr>
        <p:spPr>
          <a:xfrm flipV="1">
            <a:off x="158750" y="6046963"/>
            <a:ext cx="161750" cy="16175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 userDrawn="1"/>
        </p:nvSpPr>
        <p:spPr>
          <a:xfrm>
            <a:off x="114300" y="6142038"/>
            <a:ext cx="241300" cy="1333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prstGeom prst="rect">
            <a:avLst/>
          </a:prstGeom>
          <a:solidFill>
            <a:schemeClr val="accent6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i="1">
                <a:solidFill>
                  <a:srgbClr val="F79646"/>
                </a:solidFill>
                <a:latin typeface="Goudy Old Style"/>
                <a:cs typeface="Goudy Old Style"/>
              </a:defRPr>
            </a:lvl1pPr>
          </a:lstStyle>
          <a:p>
            <a:r>
              <a:rPr lang="en-GB" dirty="0"/>
              <a:t>Osaka (online), 6</a:t>
            </a:r>
            <a:r>
              <a:rPr lang="en-GB" baseline="30000" dirty="0"/>
              <a:t>th</a:t>
            </a:r>
            <a:r>
              <a:rPr lang="en-GB" dirty="0"/>
              <a:t> August 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0800" y="6356350"/>
            <a:ext cx="47509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i="1">
                <a:solidFill>
                  <a:srgbClr val="F79646"/>
                </a:solidFill>
                <a:latin typeface="Goudy Old Style"/>
                <a:cs typeface="Goudy Old Style"/>
              </a:defRPr>
            </a:lvl1pPr>
          </a:lstStyle>
          <a:p>
            <a:r>
              <a:rPr lang="en-US" dirty="0"/>
              <a:t>Open Access and changes in the linguistics publishing landscape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41704" y="6356350"/>
            <a:ext cx="13450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i="1">
                <a:solidFill>
                  <a:srgbClr val="F79646"/>
                </a:solidFill>
                <a:latin typeface="Goudy Old Style"/>
                <a:cs typeface="Goudy Old Style"/>
              </a:defRPr>
            </a:lvl1pPr>
          </a:lstStyle>
          <a:p>
            <a:r>
              <a:rPr lang="en-US" dirty="0"/>
              <a:t>George Walkden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56350"/>
            <a:ext cx="9144000" cy="1588"/>
          </a:xfrm>
          <a:prstGeom prst="line">
            <a:avLst/>
          </a:prstGeom>
          <a:ln w="5080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6265863"/>
            <a:ext cx="9144000" cy="1588"/>
          </a:xfrm>
          <a:prstGeom prst="line">
            <a:avLst/>
          </a:prstGeom>
          <a:ln w="5080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0" y="1346200"/>
            <a:ext cx="9144000" cy="1588"/>
          </a:xfrm>
          <a:prstGeom prst="line">
            <a:avLst/>
          </a:prstGeom>
          <a:ln w="508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 userDrawn="1"/>
        </p:nvSpPr>
        <p:spPr>
          <a:xfrm flipV="1">
            <a:off x="114300" y="6186488"/>
            <a:ext cx="241300" cy="24130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 userDrawn="1"/>
        </p:nvSpPr>
        <p:spPr>
          <a:xfrm flipV="1">
            <a:off x="196850" y="6269038"/>
            <a:ext cx="79200" cy="79200"/>
          </a:xfrm>
          <a:prstGeom prst="ellipse">
            <a:avLst/>
          </a:prstGeom>
          <a:solidFill>
            <a:schemeClr val="accent6"/>
          </a:solidFill>
          <a:ln w="508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cxnSp>
        <p:nvCxnSpPr>
          <p:cNvPr id="13" name="Straight Connector 12"/>
          <p:cNvCxnSpPr/>
          <p:nvPr userDrawn="1"/>
        </p:nvCxnSpPr>
        <p:spPr>
          <a:xfrm rot="5400000">
            <a:off x="281694" y="6168144"/>
            <a:ext cx="79200" cy="1588"/>
          </a:xfrm>
          <a:prstGeom prst="line">
            <a:avLst/>
          </a:prstGeom>
          <a:ln w="5080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b="1" i="0" kern="1200">
          <a:solidFill>
            <a:schemeClr val="bg1"/>
          </a:solidFill>
          <a:latin typeface="Goudy Old Style"/>
          <a:ea typeface="+mj-ea"/>
          <a:cs typeface="Goudy Old Style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accent6"/>
          </a:solidFill>
          <a:latin typeface="Goudy Old Style"/>
          <a:ea typeface="+mn-ea"/>
          <a:cs typeface="Goudy Old Style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accent6"/>
          </a:solidFill>
          <a:latin typeface="Goudy Old Style"/>
          <a:ea typeface="+mn-ea"/>
          <a:cs typeface="Goudy Old Style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accent6"/>
          </a:solidFill>
          <a:latin typeface="Goudy Old Style"/>
          <a:ea typeface="+mn-ea"/>
          <a:cs typeface="Goudy Old Style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accent6"/>
          </a:solidFill>
          <a:latin typeface="Goudy Old Style"/>
          <a:ea typeface="+mn-ea"/>
          <a:cs typeface="Goudy Old Style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accent6"/>
          </a:solidFill>
          <a:latin typeface="Goudy Old Style"/>
          <a:ea typeface="+mn-ea"/>
          <a:cs typeface="Goudy Old Styl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conomist.com/node/18744177" TargetMode="External"/><Relationship Id="rId2" Type="http://schemas.openxmlformats.org/officeDocument/2006/relationships/hyperlink" Target="http://southernlibrarianship.icaap.org/content/v09n03/mcguigan_g01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semanticsarchive.net/" TargetMode="External"/><Relationship Id="rId7" Type="http://schemas.openxmlformats.org/officeDocument/2006/relationships/image" Target="../media/image7.jpeg"/><Relationship Id="rId2" Type="http://schemas.openxmlformats.org/officeDocument/2006/relationships/hyperlink" Target="http://roa.rutgers.edu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gif"/><Relationship Id="rId4" Type="http://schemas.openxmlformats.org/officeDocument/2006/relationships/hyperlink" Target="http://ling.auf.net/lingbuzz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doaj.org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issuu.com/thebritishacademy/docs/debating_open_access-shieber-ecumen" TargetMode="External"/><Relationship Id="rId2" Type="http://schemas.openxmlformats.org/officeDocument/2006/relationships/hyperlink" Target="http://www.elsevier.com/about/open-access/sponsored-articles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roger-pearse.com/weblog/2009/06/23/dishonest-academic-journals-and-the-elsevier-scandal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stl.org/10-winter/article2.html" TargetMode="External"/><Relationship Id="rId2" Type="http://schemas.openxmlformats.org/officeDocument/2006/relationships/hyperlink" Target="http://eprints.soton.ac.uk/268516/2/Citation_advantage_paper.pdf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oaling.wordpress.com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hyperlink" Target="http://www.glossa-journal.org/" TargetMode="Externa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hyperlink" Target="http://historicalsyntax.org/" TargetMode="Externa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langsci-press.org/" TargetMode="External"/><Relationship Id="rId2" Type="http://schemas.openxmlformats.org/officeDocument/2006/relationships/hyperlink" Target="http://www.britac.ac.uk/templates/asset-relay.cfm?frmAssetFileID=12664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53650"/>
            <a:ext cx="7772400" cy="1470025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6000" dirty="0">
                <a:solidFill>
                  <a:srgbClr val="F79646"/>
                </a:solidFill>
              </a:rPr>
              <a:t>Open Access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425419" y="2698086"/>
            <a:ext cx="5549900" cy="1066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79646"/>
                </a:solidFill>
                <a:effectLst/>
                <a:uLnTx/>
                <a:uFillTx/>
                <a:latin typeface="Goudy Old Style"/>
                <a:ea typeface="+mn-ea"/>
                <a:cs typeface="Goudy Old Style"/>
              </a:rPr>
              <a:t>and changes in the linguistics		</a:t>
            </a:r>
          </a:p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3200" dirty="0">
                <a:solidFill>
                  <a:srgbClr val="F79646"/>
                </a:solidFill>
                <a:latin typeface="Goudy Old Style"/>
                <a:cs typeface="Goudy Old Style"/>
              </a:rPr>
              <a:t>publishing landscape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79646"/>
              </a:solidFill>
              <a:effectLst/>
              <a:uLnTx/>
              <a:uFillTx/>
              <a:latin typeface="Goudy Old Style"/>
              <a:ea typeface="+mn-ea"/>
              <a:cs typeface="Goudy Old Style"/>
            </a:endParaRPr>
          </a:p>
        </p:txBody>
      </p:sp>
      <p:sp>
        <p:nvSpPr>
          <p:cNvPr id="9" name="Oval 8"/>
          <p:cNvSpPr/>
          <p:nvPr/>
        </p:nvSpPr>
        <p:spPr>
          <a:xfrm flipV="1">
            <a:off x="7437855" y="654225"/>
            <a:ext cx="723618" cy="723619"/>
          </a:xfrm>
          <a:prstGeom prst="ellipse">
            <a:avLst/>
          </a:prstGeom>
          <a:solidFill>
            <a:schemeClr val="bg1"/>
          </a:solidFill>
          <a:ln w="2032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251700" y="1016061"/>
            <a:ext cx="1079500" cy="5965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 flipV="1">
            <a:off x="7251700" y="1227616"/>
            <a:ext cx="1079500" cy="1079500"/>
          </a:xfrm>
          <a:prstGeom prst="ellipse">
            <a:avLst/>
          </a:prstGeom>
          <a:solidFill>
            <a:schemeClr val="bg1"/>
          </a:solidFill>
          <a:ln w="2286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 flipV="1">
            <a:off x="7621003" y="1596919"/>
            <a:ext cx="354316" cy="354316"/>
          </a:xfrm>
          <a:prstGeom prst="ellipse">
            <a:avLst/>
          </a:prstGeom>
          <a:solidFill>
            <a:schemeClr val="accent6"/>
          </a:solidFill>
          <a:ln w="508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cxnSp>
        <p:nvCxnSpPr>
          <p:cNvPr id="13" name="Straight Connector 12"/>
          <p:cNvCxnSpPr/>
          <p:nvPr/>
        </p:nvCxnSpPr>
        <p:spPr>
          <a:xfrm rot="5400000">
            <a:off x="7975168" y="1170951"/>
            <a:ext cx="354316" cy="7104"/>
          </a:xfrm>
          <a:prstGeom prst="line">
            <a:avLst/>
          </a:prstGeom>
          <a:ln w="20320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ubtitle 2"/>
          <p:cNvSpPr txBox="1">
            <a:spLocks/>
          </p:cNvSpPr>
          <p:nvPr/>
        </p:nvSpPr>
        <p:spPr>
          <a:xfrm>
            <a:off x="850900" y="4140200"/>
            <a:ext cx="7480300" cy="1587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b="1" u="none" strike="noStrike" kern="1200" cap="none" spc="0" normalizeH="0" baseline="0" noProof="0" dirty="0">
                <a:ln>
                  <a:noFill/>
                </a:ln>
                <a:solidFill>
                  <a:srgbClr val="F79646"/>
                </a:solidFill>
                <a:effectLst/>
                <a:uLnTx/>
                <a:uFillTx/>
                <a:latin typeface="Goudy Old Style"/>
                <a:ea typeface="+mn-ea"/>
                <a:cs typeface="Goudy Old Style"/>
              </a:rPr>
              <a:t>George Walkden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>
                <a:solidFill>
                  <a:srgbClr val="F79646"/>
                </a:solidFill>
                <a:latin typeface="Goudy Old Style"/>
                <a:cs typeface="Goudy Old Style"/>
              </a:rPr>
              <a:t>University of Konstanz</a:t>
            </a:r>
          </a:p>
          <a:p>
            <a:pPr lvl="0">
              <a:spcBef>
                <a:spcPct val="20000"/>
              </a:spcBef>
            </a:pPr>
            <a:r>
              <a:rPr kumimoji="0" lang="en-US" b="0" u="none" strike="noStrike" kern="1200" cap="none" spc="0" normalizeH="0" baseline="0" noProof="0" dirty="0" err="1">
                <a:ln>
                  <a:noFill/>
                </a:ln>
                <a:solidFill>
                  <a:srgbClr val="F79646"/>
                </a:solidFill>
                <a:effectLst/>
                <a:uLnTx/>
                <a:uFillTx/>
                <a:latin typeface="Goudy Old Style"/>
                <a:ea typeface="+mn-ea"/>
                <a:cs typeface="Goudy Old Style"/>
              </a:rPr>
              <a:t>george.walkden@uni-konstanz.de</a:t>
            </a:r>
            <a:endParaRPr lang="en-US" dirty="0">
              <a:solidFill>
                <a:srgbClr val="F79646"/>
              </a:solidFill>
              <a:latin typeface="Goudy Old Style"/>
              <a:cs typeface="Goudy Old Style"/>
            </a:endParaRPr>
          </a:p>
          <a:p>
            <a:pPr lvl="0">
              <a:spcBef>
                <a:spcPct val="20000"/>
              </a:spcBef>
            </a:pPr>
            <a:r>
              <a:rPr lang="en-US" dirty="0">
                <a:solidFill>
                  <a:srgbClr val="F79646"/>
                </a:solidFill>
                <a:latin typeface="Goudy Old Style"/>
                <a:cs typeface="Goudy Old Style"/>
              </a:rPr>
              <a:t>http://</a:t>
            </a:r>
            <a:r>
              <a:rPr lang="en-US" dirty="0" err="1">
                <a:solidFill>
                  <a:srgbClr val="F79646"/>
                </a:solidFill>
                <a:latin typeface="Goudy Old Style"/>
                <a:cs typeface="Goudy Old Style"/>
              </a:rPr>
              <a:t>walkden.space</a:t>
            </a:r>
            <a:r>
              <a:rPr lang="en-US" dirty="0">
                <a:solidFill>
                  <a:srgbClr val="F79646"/>
                </a:solidFill>
                <a:latin typeface="Goudy Old Style"/>
                <a:cs typeface="Goudy Old Style"/>
              </a:rPr>
              <a:t>/ </a:t>
            </a:r>
            <a:endParaRPr kumimoji="0" lang="en-US" b="0" u="none" strike="noStrike" kern="1200" cap="none" spc="0" normalizeH="0" baseline="0" noProof="0" dirty="0">
              <a:ln>
                <a:noFill/>
              </a:ln>
              <a:solidFill>
                <a:srgbClr val="F79646"/>
              </a:solidFill>
              <a:effectLst/>
              <a:uLnTx/>
              <a:uFillTx/>
              <a:latin typeface="Goudy Old Style"/>
              <a:ea typeface="+mn-ea"/>
              <a:cs typeface="Goudy Old Style"/>
            </a:endParaRPr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F7090562-0ECC-EA46-8ED2-9C07770EE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Osaka (online), 6th August 2021</a:t>
            </a:r>
            <a:endParaRPr lang="en-US" dirty="0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8ADA365-B91E-884E-80A3-67C59CDB8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and changes in the linguistics publishing landscape</a:t>
            </a:r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9301D59E-E1C4-3142-B24D-07399425D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George Walkden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talk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Journal publishing in linguistics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Changes in the linguistics publishing landscape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Open Access: why should you care?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Open Access case studies in linguistics</a:t>
            </a:r>
          </a:p>
        </p:txBody>
      </p:sp>
      <p:sp>
        <p:nvSpPr>
          <p:cNvPr id="1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Osaka (online), 6th August 2021</a:t>
            </a:r>
            <a:endParaRPr lang="en-US" dirty="0"/>
          </a:p>
        </p:txBody>
      </p:sp>
      <p:sp>
        <p:nvSpPr>
          <p:cNvPr id="15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Open Access and changes in the linguistics publishing landscape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DE6BA-F4C1-9C48-B854-5E15C8278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1AD73-3967-5E42-844C-6374A4A50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Publishing in linguistics serves multiple purposes!</a:t>
            </a:r>
          </a:p>
          <a:p>
            <a:pPr lvl="1"/>
            <a:r>
              <a:rPr lang="en-GB" dirty="0"/>
              <a:t>Share your research with others in the field</a:t>
            </a:r>
          </a:p>
          <a:p>
            <a:pPr lvl="1"/>
            <a:r>
              <a:rPr lang="en-GB" dirty="0"/>
              <a:t>Important for career progression and evaluation (increasingly; it depends)</a:t>
            </a:r>
          </a:p>
          <a:p>
            <a:r>
              <a:rPr lang="en-GB" dirty="0"/>
              <a:t>In most areas of linguistics, peer-reviewed journal publishing is the main route.</a:t>
            </a:r>
          </a:p>
          <a:p>
            <a:pPr lvl="1"/>
            <a:r>
              <a:rPr lang="en-GB" dirty="0"/>
              <a:t>Exceptions: phonetics, computational linguistics, discourse analysis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538C3-83A4-B74D-BBA6-B42F21E56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Osaka (online), 6th August 2021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55FBB-5A33-CF48-B45C-DC314023A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and changes in the linguistics publishing landscape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6FD38-5C24-4146-A40D-6AF9FDABB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George Walkden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47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EC7A6-A73D-D443-9CFC-C387FCE2F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Picking a journal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A5869-6250-C34C-BDF3-0E2E6B7B4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Criteria:</a:t>
            </a:r>
          </a:p>
          <a:p>
            <a:pPr lvl="1"/>
            <a:r>
              <a:rPr lang="en-GB" dirty="0"/>
              <a:t>Who reads it? (Who do I want to reach?)</a:t>
            </a:r>
          </a:p>
          <a:p>
            <a:pPr lvl="1"/>
            <a:r>
              <a:rPr lang="en-GB" dirty="0"/>
              <a:t>How prestigious is it?</a:t>
            </a:r>
          </a:p>
          <a:p>
            <a:pPr lvl="2"/>
            <a:r>
              <a:rPr lang="en-GB" dirty="0"/>
              <a:t>“Soft” measures: peers’ opinions</a:t>
            </a:r>
          </a:p>
          <a:p>
            <a:pPr lvl="2"/>
            <a:r>
              <a:rPr lang="en-GB" dirty="0"/>
              <a:t>“Hard” measures: Impact Factor</a:t>
            </a:r>
          </a:p>
          <a:p>
            <a:pPr lvl="1"/>
            <a:r>
              <a:rPr lang="en-GB" dirty="0"/>
              <a:t>How hard is it to get into?</a:t>
            </a:r>
          </a:p>
          <a:p>
            <a:pPr lvl="2"/>
            <a:r>
              <a:rPr lang="en-GB" dirty="0"/>
              <a:t>This sometimes correlates with prestige, </a:t>
            </a:r>
            <a:br>
              <a:rPr lang="en-GB" dirty="0"/>
            </a:br>
            <a:r>
              <a:rPr lang="en-GB" dirty="0"/>
              <a:t>but not always!</a:t>
            </a:r>
          </a:p>
          <a:p>
            <a:pPr lvl="1"/>
            <a:r>
              <a:rPr lang="en-GB" dirty="0"/>
              <a:t>How easy is it to access?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F1B9B-65D1-3B4C-874F-0771D3D85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Osaka (online), 6th August 2021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44867-EC31-BA47-B639-C5A4757F8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and changes in the linguistics publishing landscape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64857-28A6-CB49-BF55-14A9AE4F7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George Walkden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8E9E22-15C0-0046-BABA-FBC210764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5384" y="4830132"/>
            <a:ext cx="3411415" cy="1200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369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BBFDC-B349-FD4A-A187-D52A4653E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Traditional journals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E0672-BDF3-8540-8077-39C1DA507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Subscription model:</a:t>
            </a:r>
          </a:p>
          <a:p>
            <a:pPr lvl="1"/>
            <a:r>
              <a:rPr lang="en-GB" dirty="0"/>
              <a:t>Author pays nothing to publish</a:t>
            </a:r>
          </a:p>
          <a:p>
            <a:pPr lvl="1"/>
            <a:r>
              <a:rPr lang="en-GB" dirty="0"/>
              <a:t>Copyright is transferred to publisher</a:t>
            </a:r>
          </a:p>
          <a:p>
            <a:pPr lvl="1"/>
            <a:r>
              <a:rPr lang="en-GB" dirty="0"/>
              <a:t>Libraries (and </a:t>
            </a:r>
            <a:br>
              <a:rPr lang="en-GB" dirty="0"/>
            </a:br>
            <a:r>
              <a:rPr lang="en-GB" dirty="0"/>
              <a:t>other entities) </a:t>
            </a:r>
            <a:br>
              <a:rPr lang="en-GB" dirty="0"/>
            </a:br>
            <a:r>
              <a:rPr lang="en-GB" b="1" dirty="0"/>
              <a:t>pay for access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CA64C-6601-F641-AE8A-E8AF797F6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Osaka (online), 6th August 2021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26F39-5578-CA48-A42D-70DDE36A5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and changes in the linguistics publishing landscape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008A5-3494-F54D-906D-C59B97F1E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George Walkden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4E0347-4CA0-3643-A1B7-F85EDDB25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3187206"/>
            <a:ext cx="5126563" cy="2938957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3CEFC6B5-9C33-8844-A4CF-2A42486F7947}"/>
              </a:ext>
            </a:extLst>
          </p:cNvPr>
          <p:cNvSpPr/>
          <p:nvPr/>
        </p:nvSpPr>
        <p:spPr>
          <a:xfrm flipV="1">
            <a:off x="6588939" y="4582148"/>
            <a:ext cx="956031" cy="956031"/>
          </a:xfrm>
          <a:prstGeom prst="ellipse">
            <a:avLst/>
          </a:prstGeom>
          <a:noFill/>
          <a:ln w="1016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565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added?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Professional publishers still have value to add:</a:t>
            </a:r>
          </a:p>
          <a:p>
            <a:pPr lvl="1"/>
            <a:r>
              <a:rPr lang="en-US" dirty="0"/>
              <a:t>Typesetting</a:t>
            </a:r>
          </a:p>
          <a:p>
            <a:pPr lvl="1"/>
            <a:r>
              <a:rPr lang="en-US" dirty="0"/>
              <a:t>Copy-editing and proofreading</a:t>
            </a:r>
          </a:p>
          <a:p>
            <a:pPr lvl="1"/>
            <a:r>
              <a:rPr lang="en-US" dirty="0"/>
              <a:t>Indexing and marketing</a:t>
            </a:r>
          </a:p>
          <a:p>
            <a:r>
              <a:rPr lang="en-US" dirty="0"/>
              <a:t>BUT the market is not in a healthy state:</a:t>
            </a:r>
          </a:p>
          <a:p>
            <a:pPr lvl="1"/>
            <a:r>
              <a:rPr lang="en-US" dirty="0"/>
              <a:t>Elsevier, Springer and Wiley have cornered </a:t>
            </a:r>
            <a:r>
              <a:rPr lang="en-US" dirty="0">
                <a:hlinkClick r:id="rId2"/>
              </a:rPr>
              <a:t>42%</a:t>
            </a:r>
            <a:r>
              <a:rPr lang="en-US" dirty="0"/>
              <a:t> of the journal article marker</a:t>
            </a:r>
          </a:p>
          <a:p>
            <a:pPr lvl="1"/>
            <a:r>
              <a:rPr lang="en-US" dirty="0"/>
              <a:t>Elsevier profit margin 2010: 36% (</a:t>
            </a:r>
            <a:r>
              <a:rPr lang="en-US" dirty="0">
                <a:hlinkClick r:id="rId3"/>
              </a:rPr>
              <a:t>£724m</a:t>
            </a:r>
            <a:r>
              <a:rPr lang="en-US" dirty="0"/>
              <a:t>)</a:t>
            </a:r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213070BE-84AE-EE4D-8BEB-A22018B4C4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/>
              <a:t>Osaka (online), 6th August 2021</a:t>
            </a:r>
            <a:endParaRPr lang="en-US" dirty="0"/>
          </a:p>
        </p:txBody>
      </p:sp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A66DC72A-6176-E348-9B49-F6C17ED2B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0800" y="6356350"/>
            <a:ext cx="4750904" cy="365125"/>
          </a:xfrm>
        </p:spPr>
        <p:txBody>
          <a:bodyPr/>
          <a:lstStyle/>
          <a:p>
            <a:r>
              <a:rPr lang="en-US"/>
              <a:t>Open Access and changes in the linguistics publishing landscape</a:t>
            </a: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3BDB14AF-761F-1C42-B8A3-BCBBDF520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41704" y="6356350"/>
            <a:ext cx="1345096" cy="365125"/>
          </a:xfrm>
        </p:spPr>
        <p:txBody>
          <a:bodyPr/>
          <a:lstStyle/>
          <a:p>
            <a:fld id="{94D687E4-938E-F043-870F-1F7A10318A32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DD57CD-10C2-2946-893D-A26713789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4535" y="1466985"/>
            <a:ext cx="2855742" cy="380765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Annual journal subscription costs</a:t>
            </a:r>
          </a:p>
        </p:txBody>
      </p:sp>
      <p:pic>
        <p:nvPicPr>
          <p:cNvPr id="11" name="Content Placeholder 10" descr="goat-journal.jp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72233" y="1600200"/>
            <a:ext cx="3314467" cy="4525963"/>
          </a:xfrm>
        </p:spPr>
      </p:pic>
      <p:sp>
        <p:nvSpPr>
          <p:cNvPr id="1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Osaka (online), 6th August 2021</a:t>
            </a:r>
            <a:endParaRPr lang="en-US" dirty="0"/>
          </a:p>
        </p:txBody>
      </p:sp>
      <p:sp>
        <p:nvSpPr>
          <p:cNvPr id="16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and changes in the linguistics publishing landscape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idx="4294967295"/>
          </p:nvPr>
        </p:nvSpPr>
        <p:spPr>
          <a:xfrm>
            <a:off x="274215" y="2562067"/>
            <a:ext cx="3439656" cy="639762"/>
          </a:xfrm>
        </p:spPr>
        <p:txBody>
          <a:bodyPr>
            <a:normAutofit fontScale="70000" lnSpcReduction="20000"/>
          </a:bodyPr>
          <a:lstStyle/>
          <a:p>
            <a:pPr algn="ctr"/>
            <a:r>
              <a:rPr lang="en-US" dirty="0"/>
              <a:t>Small Ruminant Research</a:t>
            </a:r>
            <a:r>
              <a:rPr lang="en-US" b="0" dirty="0"/>
              <a:t> (Elsevier)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4294967295"/>
          </p:nvPr>
        </p:nvSpPr>
        <p:spPr>
          <a:xfrm>
            <a:off x="5102225" y="5381455"/>
            <a:ext cx="4041775" cy="639763"/>
          </a:xfrm>
        </p:spPr>
        <p:txBody>
          <a:bodyPr>
            <a:noAutofit/>
          </a:bodyPr>
          <a:lstStyle/>
          <a:p>
            <a:pPr algn="ctr"/>
            <a:r>
              <a:rPr lang="en-US" sz="2200" dirty="0"/>
              <a:t>Journal of Memory and Language </a:t>
            </a:r>
            <a:r>
              <a:rPr lang="en-US" sz="2200" b="0" dirty="0"/>
              <a:t>(Elsevier)</a:t>
            </a:r>
          </a:p>
        </p:txBody>
      </p:sp>
      <p:sp>
        <p:nvSpPr>
          <p:cNvPr id="12" name="Explosion 2 11"/>
          <p:cNvSpPr/>
          <p:nvPr/>
        </p:nvSpPr>
        <p:spPr>
          <a:xfrm rot="862281">
            <a:off x="370416" y="4641238"/>
            <a:ext cx="2514600" cy="1092200"/>
          </a:xfrm>
          <a:prstGeom prst="irregularSeal2">
            <a:avLst/>
          </a:prstGeom>
          <a:gradFill>
            <a:gsLst>
              <a:gs pos="0">
                <a:schemeClr val="accent6"/>
              </a:gs>
              <a:gs pos="100000">
                <a:schemeClr val="accent6">
                  <a:lumMod val="20000"/>
                  <a:lumOff val="80000"/>
                </a:schemeClr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Goudy Old Style"/>
                <a:cs typeface="Goudy Old Style"/>
              </a:rPr>
              <a:t>£4,464</a:t>
            </a:r>
          </a:p>
        </p:txBody>
      </p:sp>
      <p:sp>
        <p:nvSpPr>
          <p:cNvPr id="14" name="Explosion 2 13"/>
          <p:cNvSpPr/>
          <p:nvPr/>
        </p:nvSpPr>
        <p:spPr>
          <a:xfrm rot="20895316">
            <a:off x="6446707" y="3356431"/>
            <a:ext cx="2656140" cy="1092200"/>
          </a:xfrm>
          <a:prstGeom prst="irregularSeal2">
            <a:avLst/>
          </a:prstGeom>
          <a:gradFill>
            <a:gsLst>
              <a:gs pos="0">
                <a:schemeClr val="accent6"/>
              </a:gs>
              <a:gs pos="100000">
                <a:schemeClr val="accent6">
                  <a:lumMod val="20000"/>
                  <a:lumOff val="80000"/>
                </a:schemeClr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Goudy Old Style"/>
                <a:cs typeface="Goudy Old Style"/>
              </a:rPr>
              <a:t>£2,517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Technological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digital era, costs for (online) publication are lower than ever.</a:t>
            </a:r>
          </a:p>
          <a:p>
            <a:r>
              <a:rPr lang="en-US" dirty="0"/>
              <a:t>Much of the skilled work involved in publication (e.g. reviewing, journal editing) is, and has always been, carried out by academics for nothing or for nominal amounts.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Osaka (online), 6th August 2021</a:t>
            </a:r>
            <a:endParaRPr lang="en-US" dirty="0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and changes in the linguistics publishing landscape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A627-BD05-B948-874D-B8BBDE0F5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AACC1-23CF-254E-A00D-F2D2F6F38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Open Access (OA) </a:t>
            </a:r>
            <a:r>
              <a:rPr lang="en-US" dirty="0"/>
              <a:t>publications are made available to anyone, </a:t>
            </a:r>
            <a:r>
              <a:rPr lang="en-US" i="1" dirty="0"/>
              <a:t>free at the point of access</a:t>
            </a:r>
            <a:r>
              <a:rPr lang="en-US" dirty="0"/>
              <a:t>.</a:t>
            </a:r>
          </a:p>
          <a:p>
            <a:r>
              <a:rPr lang="en-GB" dirty="0"/>
              <a:t>Two types of Open Access:</a:t>
            </a:r>
          </a:p>
          <a:p>
            <a:pPr lvl="1"/>
            <a:r>
              <a:rPr lang="en-GB" dirty="0">
                <a:solidFill>
                  <a:srgbClr val="339900"/>
                </a:solidFill>
              </a:rPr>
              <a:t>Green</a:t>
            </a:r>
          </a:p>
          <a:p>
            <a:pPr lvl="1"/>
            <a:r>
              <a:rPr lang="en-GB" dirty="0">
                <a:solidFill>
                  <a:srgbClr val="FFCC00"/>
                </a:solidFill>
              </a:rPr>
              <a:t>Gold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7FB4D-9A30-C544-AFAC-D4F841AAE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Osaka (online), 6th August 2021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5817F-EC94-DD4C-9B68-9F94925EF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and changes in the linguistics publishing landscape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8F536-3017-CF4B-8CEB-B916B3334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George Walkden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275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39900"/>
                </a:solidFill>
              </a:rPr>
              <a:t>Green </a:t>
            </a:r>
            <a:r>
              <a:rPr lang="en-US" dirty="0"/>
              <a:t>open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82870"/>
            <a:ext cx="8229600" cy="3343293"/>
          </a:xfrm>
        </p:spPr>
        <p:txBody>
          <a:bodyPr/>
          <a:lstStyle/>
          <a:p>
            <a:r>
              <a:rPr lang="en-US" dirty="0"/>
              <a:t>Self-archiving of research work in places where it’s freely available on the web, e.g.:</a:t>
            </a:r>
          </a:p>
          <a:p>
            <a:pPr lvl="1"/>
            <a:r>
              <a:rPr lang="en-US" dirty="0"/>
              <a:t>Institutional repositories</a:t>
            </a:r>
          </a:p>
          <a:p>
            <a:pPr lvl="1"/>
            <a:r>
              <a:rPr lang="en-US" dirty="0"/>
              <a:t>Subject-specific repositories</a:t>
            </a:r>
          </a:p>
          <a:p>
            <a:pPr lvl="2"/>
            <a:r>
              <a:rPr lang="en-US" dirty="0"/>
              <a:t>(</a:t>
            </a:r>
            <a:r>
              <a:rPr lang="en-US" dirty="0">
                <a:hlinkClick r:id="rId2"/>
              </a:rPr>
              <a:t>Optimality Archive</a:t>
            </a:r>
            <a:r>
              <a:rPr lang="en-US" dirty="0"/>
              <a:t>, </a:t>
            </a:r>
            <a:r>
              <a:rPr lang="en-US" dirty="0">
                <a:hlinkClick r:id="rId3"/>
              </a:rPr>
              <a:t>semanticsarchive.net</a:t>
            </a:r>
            <a:r>
              <a:rPr lang="en-US" dirty="0"/>
              <a:t>, </a:t>
            </a:r>
            <a:r>
              <a:rPr lang="en-US" dirty="0">
                <a:hlinkClick r:id="rId4"/>
              </a:rPr>
              <a:t>lingBuzz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Personal website or social media profile</a:t>
            </a:r>
          </a:p>
        </p:txBody>
      </p:sp>
      <p:pic>
        <p:nvPicPr>
          <p:cNvPr id="7" name="Picture 6" descr="roa-flat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56050">
            <a:off x="441854" y="1896888"/>
            <a:ext cx="2667000" cy="406732"/>
          </a:xfrm>
          <a:prstGeom prst="rect">
            <a:avLst/>
          </a:prstGeom>
        </p:spPr>
      </p:pic>
      <p:pic>
        <p:nvPicPr>
          <p:cNvPr id="8" name="Picture 7" descr="semanticsarchiv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218574">
            <a:off x="3646109" y="2031999"/>
            <a:ext cx="3477381" cy="292100"/>
          </a:xfrm>
          <a:prstGeom prst="rect">
            <a:avLst/>
          </a:prstGeom>
        </p:spPr>
      </p:pic>
      <p:pic>
        <p:nvPicPr>
          <p:cNvPr id="9" name="Picture 8" descr="dspac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953776">
            <a:off x="7421562" y="1881268"/>
            <a:ext cx="1514475" cy="5715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B88DEF5A-6417-6E4D-A5B6-D49180482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/>
              <a:t>Osaka (online), 6th August 2021</a:t>
            </a:r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D1495F2C-4288-D74C-A343-7EF97D4D0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0800" y="6356350"/>
            <a:ext cx="4750904" cy="365125"/>
          </a:xfrm>
        </p:spPr>
        <p:txBody>
          <a:bodyPr/>
          <a:lstStyle/>
          <a:p>
            <a:r>
              <a:rPr lang="en-US"/>
              <a:t>Open Access and changes in the linguistics publishing landscape</a:t>
            </a: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3FBCC90-D473-A249-9B7A-CC079028D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41704" y="6356350"/>
            <a:ext cx="1345096" cy="365125"/>
          </a:xfrm>
        </p:spPr>
        <p:txBody>
          <a:bodyPr/>
          <a:lstStyle/>
          <a:p>
            <a:r>
              <a:rPr lang="en-US"/>
              <a:t>George Walkden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593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39900"/>
                </a:solidFill>
              </a:rPr>
              <a:t>Green </a:t>
            </a:r>
            <a:r>
              <a:rPr lang="en-US" dirty="0"/>
              <a:t>OA: pros and cons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Advantages:</a:t>
            </a:r>
          </a:p>
          <a:p>
            <a:pPr lvl="1"/>
            <a:r>
              <a:rPr lang="en-US" dirty="0"/>
              <a:t>Cheap and easy.</a:t>
            </a:r>
          </a:p>
          <a:p>
            <a:r>
              <a:rPr lang="en-US" dirty="0"/>
              <a:t>Disadvantages:</a:t>
            </a:r>
          </a:p>
          <a:p>
            <a:pPr lvl="1"/>
            <a:r>
              <a:rPr lang="en-US" dirty="0"/>
              <a:t>In most repositories, no guarantee of quality </a:t>
            </a:r>
            <a:br>
              <a:rPr lang="en-US" dirty="0"/>
            </a:br>
            <a:r>
              <a:rPr lang="en-US" dirty="0"/>
              <a:t>(or even peer-review).</a:t>
            </a:r>
          </a:p>
          <a:p>
            <a:pPr lvl="1"/>
            <a:r>
              <a:rPr lang="en-US" dirty="0"/>
              <a:t>Version control can become difficult.</a:t>
            </a:r>
          </a:p>
          <a:p>
            <a:pPr lvl="1"/>
            <a:r>
              <a:rPr lang="en-US" dirty="0"/>
              <a:t>Often no proofreading/copy-editing/typesetting.</a:t>
            </a:r>
          </a:p>
          <a:p>
            <a:pPr lvl="1"/>
            <a:r>
              <a:rPr lang="en-US" dirty="0"/>
              <a:t>Not always good for dissemination.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AEC8143-ED4C-CB47-AE33-30353F43B4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/>
              <a:t>Osaka (online), 6th August 2021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E18D02E-81A1-614A-8E15-7100EF990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0800" y="6356350"/>
            <a:ext cx="4750904" cy="365125"/>
          </a:xfrm>
        </p:spPr>
        <p:txBody>
          <a:bodyPr/>
          <a:lstStyle/>
          <a:p>
            <a:r>
              <a:rPr lang="en-US"/>
              <a:t>Open Access and changes in the linguistics publishing landscape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30D1012-D913-354E-87D3-7A97D8BAD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41704" y="6356350"/>
            <a:ext cx="1345096" cy="365125"/>
          </a:xfrm>
        </p:spPr>
        <p:txBody>
          <a:bodyPr/>
          <a:lstStyle/>
          <a:p>
            <a:r>
              <a:rPr lang="en-US"/>
              <a:t>George Walkden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295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C00"/>
                </a:solidFill>
              </a:rPr>
              <a:t>Gold </a:t>
            </a:r>
            <a:r>
              <a:rPr lang="en-US" dirty="0"/>
              <a:t>open access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Journals that specifically offer open access.</a:t>
            </a:r>
          </a:p>
          <a:p>
            <a:pPr lvl="1"/>
            <a:r>
              <a:rPr lang="en-US" dirty="0"/>
              <a:t>Fully </a:t>
            </a:r>
            <a:r>
              <a:rPr lang="en-US" dirty="0">
                <a:solidFill>
                  <a:srgbClr val="FFCC00"/>
                </a:solidFill>
              </a:rPr>
              <a:t>gold </a:t>
            </a:r>
            <a:r>
              <a:rPr lang="en-US" dirty="0"/>
              <a:t>journals in which </a:t>
            </a:r>
            <a:r>
              <a:rPr lang="en-US" i="1" dirty="0"/>
              <a:t>all </a:t>
            </a:r>
            <a:r>
              <a:rPr lang="en-US" dirty="0"/>
              <a:t>articles are OA.</a:t>
            </a:r>
          </a:p>
          <a:p>
            <a:pPr lvl="1"/>
            <a:r>
              <a:rPr lang="en-US" dirty="0"/>
              <a:t>“Hybrid” journals in which </a:t>
            </a:r>
            <a:r>
              <a:rPr lang="en-US" i="1" dirty="0"/>
              <a:t>some </a:t>
            </a:r>
            <a:r>
              <a:rPr lang="en-US" dirty="0"/>
              <a:t>articles are OA.</a:t>
            </a:r>
          </a:p>
          <a:p>
            <a:r>
              <a:rPr lang="en-US" dirty="0"/>
              <a:t>Directory of Open Access Journals (</a:t>
            </a:r>
            <a:r>
              <a:rPr lang="en-US" dirty="0">
                <a:hlinkClick r:id="rId2"/>
              </a:rPr>
              <a:t>DOAJ</a:t>
            </a:r>
            <a:r>
              <a:rPr lang="en-US" dirty="0"/>
              <a:t>) maintains an (inevitably incomplete) list.</a:t>
            </a:r>
          </a:p>
          <a:p>
            <a:r>
              <a:rPr lang="en-US" dirty="0"/>
              <a:t>Gold does NOT mean that you have to pay an Article Processing Charge (APC)!</a:t>
            </a:r>
          </a:p>
          <a:p>
            <a:pPr lvl="1"/>
            <a:r>
              <a:rPr lang="en-US" dirty="0"/>
              <a:t>Depends on the business model.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6FF656E6-5D18-6F48-9E7E-708DC36B78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/>
              <a:t>Osaka (online), 6th August 2021</a:t>
            </a:r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6F18445-65D6-9D4F-AE24-F7D52F3FB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0800" y="6356350"/>
            <a:ext cx="4750904" cy="365125"/>
          </a:xfrm>
        </p:spPr>
        <p:txBody>
          <a:bodyPr/>
          <a:lstStyle/>
          <a:p>
            <a:r>
              <a:rPr lang="en-US"/>
              <a:t>Open Access and changes in the linguistics publishing landscape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DFBC5F0-2804-B646-A573-7D1A2514E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41704" y="6356350"/>
            <a:ext cx="1345096" cy="365125"/>
          </a:xfrm>
        </p:spPr>
        <p:txBody>
          <a:bodyPr/>
          <a:lstStyle/>
          <a:p>
            <a:r>
              <a:rPr lang="en-US"/>
              <a:t>George Walkden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6705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</a:t>
            </a:r>
            <a:r>
              <a:rPr lang="en-US" dirty="0">
                <a:solidFill>
                  <a:srgbClr val="FFCC00"/>
                </a:solidFill>
              </a:rPr>
              <a:t>gold </a:t>
            </a:r>
            <a:r>
              <a:rPr lang="en-US" dirty="0"/>
              <a:t>journals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Very many journals offer the option of paying an APC to make your article open access.</a:t>
            </a:r>
          </a:p>
          <a:p>
            <a:r>
              <a:rPr lang="en-US" dirty="0"/>
              <a:t>This can be very expensive.</a:t>
            </a:r>
          </a:p>
          <a:p>
            <a:pPr lvl="1"/>
            <a:r>
              <a:rPr lang="en-US" dirty="0"/>
              <a:t>“Fees range from $500–$5000 USD” (</a:t>
            </a:r>
            <a:r>
              <a:rPr lang="en-US" dirty="0">
                <a:hlinkClick r:id="rId2"/>
              </a:rPr>
              <a:t>Elsevier</a:t>
            </a:r>
            <a:r>
              <a:rPr lang="en-US" dirty="0"/>
              <a:t>)</a:t>
            </a:r>
          </a:p>
          <a:p>
            <a:r>
              <a:rPr lang="en-US" dirty="0"/>
              <a:t>The hybrid model is flawed (see </a:t>
            </a:r>
            <a:r>
              <a:rPr lang="en-US" dirty="0">
                <a:hlinkClick r:id="rId3"/>
              </a:rPr>
              <a:t>Shieber 2012</a:t>
            </a:r>
            <a:r>
              <a:rPr lang="en-US" dirty="0"/>
              <a:t>):</a:t>
            </a:r>
          </a:p>
          <a:p>
            <a:pPr lvl="1"/>
            <a:r>
              <a:rPr lang="en-US" dirty="0" err="1"/>
              <a:t>Disincentivizes</a:t>
            </a:r>
            <a:r>
              <a:rPr lang="en-US" dirty="0"/>
              <a:t> universities to pay </a:t>
            </a:r>
            <a:r>
              <a:rPr lang="en-US" dirty="0" err="1"/>
              <a:t>APCs</a:t>
            </a:r>
            <a:endParaRPr lang="en-US" dirty="0"/>
          </a:p>
          <a:p>
            <a:pPr lvl="1"/>
            <a:r>
              <a:rPr lang="en-US" dirty="0"/>
              <a:t>Doesn’t obviously lead to drop in subscription costs</a:t>
            </a:r>
          </a:p>
          <a:p>
            <a:pPr lvl="1"/>
            <a:r>
              <a:rPr lang="en-US" dirty="0"/>
              <a:t>More expensive than normal </a:t>
            </a:r>
            <a:r>
              <a:rPr lang="en-US" dirty="0">
                <a:solidFill>
                  <a:srgbClr val="FFCC00"/>
                </a:solidFill>
              </a:rPr>
              <a:t>gold </a:t>
            </a:r>
            <a:r>
              <a:rPr lang="en-US" dirty="0" err="1"/>
              <a:t>APCs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40FC37B-A367-F74E-9B22-E3B9ECEF8A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/>
              <a:t>Osaka (online), 6th August 2021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3E91817-BBA9-AA42-BEC8-7F7E16294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0800" y="6356350"/>
            <a:ext cx="4750904" cy="365125"/>
          </a:xfrm>
        </p:spPr>
        <p:txBody>
          <a:bodyPr/>
          <a:lstStyle/>
          <a:p>
            <a:r>
              <a:rPr lang="en-US"/>
              <a:t>Open Access and changes in the linguistics publishing landscape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3B40ABE-A26E-D145-AB09-0BA38C85A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41704" y="6356350"/>
            <a:ext cx="1345096" cy="365125"/>
          </a:xfrm>
        </p:spPr>
        <p:txBody>
          <a:bodyPr/>
          <a:lstStyle/>
          <a:p>
            <a:r>
              <a:rPr lang="en-US"/>
              <a:t>George Walkden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738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C00"/>
                </a:solidFill>
              </a:rPr>
              <a:t>Gold </a:t>
            </a:r>
            <a:r>
              <a:rPr lang="en-US" dirty="0"/>
              <a:t>OA: pros and cons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Advantages:</a:t>
            </a:r>
          </a:p>
          <a:p>
            <a:pPr lvl="1"/>
            <a:r>
              <a:rPr lang="en-US" dirty="0"/>
              <a:t>The gold standard! More reliable than green.</a:t>
            </a:r>
          </a:p>
          <a:p>
            <a:r>
              <a:rPr lang="en-US" dirty="0"/>
              <a:t>Disadvantages:</a:t>
            </a:r>
          </a:p>
          <a:p>
            <a:pPr lvl="1"/>
            <a:r>
              <a:rPr lang="en-US" dirty="0"/>
              <a:t>You may have to pay an APC.</a:t>
            </a:r>
          </a:p>
          <a:p>
            <a:pPr lvl="1"/>
            <a:r>
              <a:rPr lang="en-US" dirty="0"/>
              <a:t>Susceptible to exploitation by predatory publishers. NB: this issue isn’t unique to gold OA! Traditional journals have </a:t>
            </a:r>
            <a:r>
              <a:rPr lang="en-US" dirty="0">
                <a:hlinkClick r:id="rId2"/>
              </a:rPr>
              <a:t>this problem</a:t>
            </a:r>
            <a:r>
              <a:rPr lang="en-US" dirty="0"/>
              <a:t> as well.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BAA1AC9-C274-6240-84B2-3101D619E8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/>
              <a:t>Osaka (online), 6th August 2021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AFB378-CE6D-004A-B680-1109A6E1C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0800" y="6356350"/>
            <a:ext cx="4750904" cy="365125"/>
          </a:xfrm>
        </p:spPr>
        <p:txBody>
          <a:bodyPr/>
          <a:lstStyle/>
          <a:p>
            <a:r>
              <a:rPr lang="en-US"/>
              <a:t>Open Access and changes in the linguistics publishing landscape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8B5BD16-46F0-564C-A6A2-040F43095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41704" y="6356350"/>
            <a:ext cx="1345096" cy="365125"/>
          </a:xfrm>
        </p:spPr>
        <p:txBody>
          <a:bodyPr/>
          <a:lstStyle/>
          <a:p>
            <a:r>
              <a:rPr lang="en-US"/>
              <a:t>George Walkden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901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Predatory OA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Open Journal of Modern Linguistics:</a:t>
            </a:r>
          </a:p>
          <a:p>
            <a:pPr lvl="1"/>
            <a:r>
              <a:rPr lang="en-US" dirty="0"/>
              <a:t>$599 per article</a:t>
            </a:r>
          </a:p>
          <a:p>
            <a:pPr lvl="1"/>
            <a:r>
              <a:rPr lang="en-US" dirty="0"/>
              <a:t>No evidence of thorough review process</a:t>
            </a:r>
          </a:p>
          <a:p>
            <a:pPr lvl="1"/>
            <a:r>
              <a:rPr lang="en-US" dirty="0"/>
              <a:t>Poor production standards</a:t>
            </a:r>
          </a:p>
          <a:p>
            <a:pPr lvl="1"/>
            <a:r>
              <a:rPr lang="en-US" dirty="0"/>
              <a:t>Accepts submissions in the fields of “Cosmic Linguistics” and “</a:t>
            </a:r>
            <a:r>
              <a:rPr lang="en-US" dirty="0" err="1"/>
              <a:t>Paralinguistics</a:t>
            </a:r>
            <a:r>
              <a:rPr lang="en-US" dirty="0"/>
              <a:t>”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D3340C86-D71C-DD47-B16D-74FFF567D9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/>
              <a:t>Osaka (online), 6th August 2021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C36F609-6522-214E-85F7-FC9021A4C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0800" y="6356350"/>
            <a:ext cx="4750904" cy="365125"/>
          </a:xfrm>
        </p:spPr>
        <p:txBody>
          <a:bodyPr/>
          <a:lstStyle/>
          <a:p>
            <a:r>
              <a:rPr lang="en-US"/>
              <a:t>Open Access and changes in the linguistics publishing landscape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9C402AA-CC88-9E42-AE8B-F75C72506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41704" y="6356350"/>
            <a:ext cx="1345096" cy="365125"/>
          </a:xfrm>
        </p:spPr>
        <p:txBody>
          <a:bodyPr/>
          <a:lstStyle/>
          <a:p>
            <a:r>
              <a:rPr lang="en-US"/>
              <a:t>George Walkden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1A6CE94-E1BD-3041-8F9F-70D542B5C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758" y="2518116"/>
            <a:ext cx="4091819" cy="2546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6554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you should think about OA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Funding bodies across the world are starting to </a:t>
            </a:r>
            <a:r>
              <a:rPr lang="en-US" i="1" dirty="0"/>
              <a:t>require</a:t>
            </a:r>
            <a:r>
              <a:rPr lang="en-US" dirty="0"/>
              <a:t> authors to publish Open Access</a:t>
            </a:r>
          </a:p>
          <a:p>
            <a:r>
              <a:rPr lang="en-US" dirty="0"/>
              <a:t>Greater accessibility for scholars with no university affiliation, or in poorer universities or countries</a:t>
            </a:r>
          </a:p>
          <a:p>
            <a:r>
              <a:rPr lang="en-US" dirty="0"/>
              <a:t>It’s good for the visibility of your research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Osaka (online), 6th August 2021</a:t>
            </a:r>
            <a:endParaRPr lang="en-US" dirty="0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and changes in the linguistics publishing landscape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Access citation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Many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studies</a:t>
            </a:r>
            <a:r>
              <a:rPr lang="en-US" dirty="0"/>
              <a:t> have shown that papers published Open Access get cited more.</a:t>
            </a:r>
          </a:p>
          <a:p>
            <a:r>
              <a:rPr lang="en-US" dirty="0"/>
              <a:t>Most results are for the hard sciences, but 45% increase in citations has been found for philosophy, and 86% for political science 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>
                <a:hlinkClick r:id="rId2"/>
              </a:rPr>
              <a:t>Swan 2010</a:t>
            </a:r>
            <a:r>
              <a:rPr lang="en-US" dirty="0"/>
              <a:t>)</a:t>
            </a:r>
          </a:p>
          <a:p>
            <a:r>
              <a:rPr lang="en-US" dirty="0"/>
              <a:t>Not surprising: more people are able to read your work!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Osaka (online), 6th August 2021</a:t>
            </a:r>
            <a:endParaRPr lang="en-US" dirty="0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and changes in the linguistics publishing landscape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C00"/>
                </a:solidFill>
              </a:rPr>
              <a:t>Gold </a:t>
            </a:r>
            <a:r>
              <a:rPr lang="en-US" dirty="0"/>
              <a:t>OA journals without fees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a list at </a:t>
            </a:r>
            <a:r>
              <a:rPr lang="en-US" dirty="0">
                <a:hlinkClick r:id="rId2"/>
              </a:rPr>
              <a:t>https://oaling.wordpress.com/</a:t>
            </a:r>
            <a:r>
              <a:rPr lang="en-US" dirty="0"/>
              <a:t> </a:t>
            </a:r>
          </a:p>
          <a:p>
            <a:r>
              <a:rPr lang="en-US" dirty="0"/>
              <a:t>Two case studies:</a:t>
            </a:r>
          </a:p>
          <a:p>
            <a:pPr lvl="1"/>
            <a:r>
              <a:rPr lang="en-US" dirty="0" err="1"/>
              <a:t>Glossa</a:t>
            </a:r>
            <a:endParaRPr lang="en-US" dirty="0"/>
          </a:p>
          <a:p>
            <a:pPr lvl="1"/>
            <a:r>
              <a:rPr lang="en-US" dirty="0"/>
              <a:t>Journal of Historical Syntax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029451D2-D84D-3544-BDFE-73220FA6E1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/>
              <a:t>Osaka (online), 6th August 2021</a:t>
            </a:r>
            <a:endParaRPr lang="en-US" dirty="0"/>
          </a:p>
        </p:txBody>
      </p:sp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85DE7EDE-BECB-1C42-BC43-E58F6A4D9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0800" y="6356350"/>
            <a:ext cx="4750904" cy="365125"/>
          </a:xfrm>
        </p:spPr>
        <p:txBody>
          <a:bodyPr/>
          <a:lstStyle/>
          <a:p>
            <a:r>
              <a:rPr lang="en-US"/>
              <a:t>Open Access and changes in the linguistics publishing landscape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6C14D39-93B0-614A-B49E-887E05CBC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41704" y="6356350"/>
            <a:ext cx="1345096" cy="365125"/>
          </a:xfrm>
        </p:spPr>
        <p:txBody>
          <a:bodyPr/>
          <a:lstStyle/>
          <a:p>
            <a:fld id="{94D687E4-938E-F043-870F-1F7A10318A32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3076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</a:t>
            </a:r>
            <a:r>
              <a:rPr lang="en-US" dirty="0" err="1"/>
              <a:t>Glossa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http://www.glossa-journal.org</a:t>
            </a:r>
            <a:endParaRPr lang="en-US" dirty="0"/>
          </a:p>
          <a:p>
            <a:r>
              <a:rPr lang="en-US" dirty="0"/>
              <a:t>Arose in 2015 out of a dispute between Elsevier and the editorial board of </a:t>
            </a:r>
            <a:r>
              <a:rPr lang="en-US" i="1" dirty="0"/>
              <a:t>Lingua</a:t>
            </a:r>
            <a:endParaRPr lang="en-US" dirty="0"/>
          </a:p>
          <a:p>
            <a:r>
              <a:rPr lang="en-US" dirty="0"/>
              <a:t>Covers all areas of linguistics (in principle)</a:t>
            </a:r>
          </a:p>
          <a:p>
            <a:r>
              <a:rPr lang="en-US" dirty="0"/>
              <a:t>No fees for authors who don’t have funding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9938F57C-692F-8B46-B440-F2078CBF13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/>
              <a:t>Osaka (online), 6th August 2021</a:t>
            </a:r>
            <a:endParaRPr lang="en-US" dirty="0"/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60A2C39F-A844-BD4E-ACE5-024282982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0800" y="6356350"/>
            <a:ext cx="4750904" cy="365125"/>
          </a:xfrm>
        </p:spPr>
        <p:txBody>
          <a:bodyPr/>
          <a:lstStyle/>
          <a:p>
            <a:r>
              <a:rPr lang="en-US"/>
              <a:t>Open Access and changes in the linguistics publishing landscape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D875C6B-4C2B-E948-830D-9E90AFB6F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41704" y="6356350"/>
            <a:ext cx="1345096" cy="365125"/>
          </a:xfrm>
        </p:spPr>
        <p:txBody>
          <a:bodyPr/>
          <a:lstStyle/>
          <a:p>
            <a:fld id="{94D687E4-938E-F043-870F-1F7A10318A32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F008EC2-07A4-3F43-8D8C-D96D30695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" y="4271963"/>
            <a:ext cx="8382000" cy="185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3276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Case study: Journal of Historical Syntax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457200" y="2082018"/>
            <a:ext cx="4410222" cy="4044145"/>
          </a:xfrm>
        </p:spPr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http://historicalsyntax.org</a:t>
            </a:r>
            <a:endParaRPr lang="en-US" dirty="0"/>
          </a:p>
          <a:p>
            <a:r>
              <a:rPr lang="en-US" dirty="0"/>
              <a:t>Narrow focus: historical syntax; few articles per year</a:t>
            </a:r>
          </a:p>
          <a:p>
            <a:r>
              <a:rPr lang="en-US" dirty="0"/>
              <a:t>No fees for any authors (though we do require authors to do the bulk of their own typesetting)</a:t>
            </a:r>
          </a:p>
          <a:p>
            <a:endParaRPr lang="en-US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9938F57C-692F-8B46-B440-F2078CBF13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/>
              <a:t>Osaka (online), 6th August 2021</a:t>
            </a:r>
            <a:endParaRPr lang="en-US" dirty="0"/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60A2C39F-A844-BD4E-ACE5-024282982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0800" y="6356350"/>
            <a:ext cx="4750904" cy="365125"/>
          </a:xfrm>
        </p:spPr>
        <p:txBody>
          <a:bodyPr/>
          <a:lstStyle/>
          <a:p>
            <a:r>
              <a:rPr lang="en-US"/>
              <a:t>Open Access and changes in the linguistics publishing landscape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D875C6B-4C2B-E948-830D-9E90AFB6F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41704" y="6356350"/>
            <a:ext cx="1345096" cy="365125"/>
          </a:xfrm>
        </p:spPr>
        <p:txBody>
          <a:bodyPr/>
          <a:lstStyle/>
          <a:p>
            <a:fld id="{94D687E4-938E-F043-870F-1F7A10318A32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7F7DE7-F076-D149-8675-6BB14A16D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5949" y="1887416"/>
            <a:ext cx="3570850" cy="357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9841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books?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 </a:t>
            </a:r>
            <a:r>
              <a:rPr lang="en-US" dirty="0">
                <a:hlinkClick r:id="rId2"/>
              </a:rPr>
              <a:t>Vincent (2013)</a:t>
            </a:r>
            <a:r>
              <a:rPr lang="en-US" dirty="0"/>
              <a:t> for discussion.</a:t>
            </a:r>
          </a:p>
          <a:p>
            <a:r>
              <a:rPr lang="en-US" dirty="0"/>
              <a:t>Some academic publishers already offer APC-funded book options.</a:t>
            </a:r>
          </a:p>
          <a:p>
            <a:r>
              <a:rPr lang="en-US" dirty="0"/>
              <a:t>Case study: </a:t>
            </a:r>
            <a:r>
              <a:rPr lang="en-US" dirty="0">
                <a:hlinkClick r:id="rId3"/>
              </a:rPr>
              <a:t>Language Science Press</a:t>
            </a:r>
            <a:r>
              <a:rPr lang="en-US" dirty="0"/>
              <a:t>.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05234E1A-06BB-4C4A-AC30-6E464BAFE0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/>
              <a:t>Osaka (online), 6th August 2021</a:t>
            </a:r>
            <a:endParaRPr lang="en-US" dirty="0"/>
          </a:p>
        </p:txBody>
      </p:sp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1702B584-7778-6D4D-BDD9-7ED04EDF2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0800" y="6356350"/>
            <a:ext cx="4750904" cy="365125"/>
          </a:xfrm>
        </p:spPr>
        <p:txBody>
          <a:bodyPr/>
          <a:lstStyle/>
          <a:p>
            <a:r>
              <a:rPr lang="en-US"/>
              <a:t>Open Access and changes in the linguistics publishing landscape</a:t>
            </a: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7D7FDA54-2779-334C-A728-813B646F7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41704" y="6356350"/>
            <a:ext cx="1345096" cy="365125"/>
          </a:xfrm>
        </p:spPr>
        <p:txBody>
          <a:bodyPr/>
          <a:lstStyle/>
          <a:p>
            <a:fld id="{94D687E4-938E-F043-870F-1F7A10318A32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3708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327" y="4648200"/>
            <a:ext cx="1210901" cy="152876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1" y="1644650"/>
            <a:ext cx="1602966" cy="202374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Language Science Press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Founded 2012; funded by a DFG grant.</a:t>
            </a:r>
          </a:p>
          <a:p>
            <a:r>
              <a:rPr lang="en-US" dirty="0"/>
              <a:t>Aim: APC-free open access e-book publication.</a:t>
            </a:r>
          </a:p>
          <a:p>
            <a:r>
              <a:rPr lang="en-US" dirty="0"/>
              <a:t>Almost all tasks performed by volunteers, inc. full review, typesetting, copy-editing, proofreading.</a:t>
            </a:r>
          </a:p>
          <a:p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1" y="1600200"/>
            <a:ext cx="2514600" cy="317468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800" y="3528695"/>
            <a:ext cx="2057400" cy="2597468"/>
          </a:xfrm>
          <a:prstGeom prst="rect">
            <a:avLst/>
          </a:prstGeom>
        </p:spPr>
      </p:pic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E37829ED-2061-3D4C-8B99-B94E2DD8F6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/>
              <a:t>Osaka (online), 6th August 2021</a:t>
            </a:r>
            <a:endParaRPr lang="en-US" dirty="0"/>
          </a:p>
        </p:txBody>
      </p:sp>
      <p:sp>
        <p:nvSpPr>
          <p:cNvPr id="15" name="Footer Placeholder 6">
            <a:extLst>
              <a:ext uri="{FF2B5EF4-FFF2-40B4-BE49-F238E27FC236}">
                <a16:creationId xmlns:a16="http://schemas.microsoft.com/office/drawing/2014/main" id="{0B7C84B0-4A3B-7A4F-80A6-265B4E054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0800" y="6356350"/>
            <a:ext cx="4750904" cy="365125"/>
          </a:xfrm>
        </p:spPr>
        <p:txBody>
          <a:bodyPr/>
          <a:lstStyle/>
          <a:p>
            <a:r>
              <a:rPr lang="en-US"/>
              <a:t>Open Access and changes in the linguistics publishing landscape</a:t>
            </a: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39D913F1-B1AB-8A4A-8509-8823E9183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41704" y="6356350"/>
            <a:ext cx="1345096" cy="365125"/>
          </a:xfrm>
        </p:spPr>
        <p:txBody>
          <a:bodyPr/>
          <a:lstStyle/>
          <a:p>
            <a:fld id="{94D687E4-938E-F043-870F-1F7A10318A32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661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1326</TotalTime>
  <Words>1334</Words>
  <Application>Microsoft Macintosh PowerPoint</Application>
  <PresentationFormat>On-screen Show (4:3)</PresentationFormat>
  <Paragraphs>190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Goudy Old Style</vt:lpstr>
      <vt:lpstr>Office Theme</vt:lpstr>
      <vt:lpstr>Open Access</vt:lpstr>
      <vt:lpstr>This talk</vt:lpstr>
      <vt:lpstr>Introduction</vt:lpstr>
      <vt:lpstr>Picking a journal</vt:lpstr>
      <vt:lpstr>Traditional journals</vt:lpstr>
      <vt:lpstr>Value added?</vt:lpstr>
      <vt:lpstr>Annual journal subscription costs</vt:lpstr>
      <vt:lpstr>Technological changes</vt:lpstr>
      <vt:lpstr>Open Access</vt:lpstr>
      <vt:lpstr>Green open access</vt:lpstr>
      <vt:lpstr>Green OA: pros and cons</vt:lpstr>
      <vt:lpstr>Gold open access</vt:lpstr>
      <vt:lpstr>Hybrid gold journals</vt:lpstr>
      <vt:lpstr>Gold OA: pros and cons</vt:lpstr>
      <vt:lpstr>Predatory OA</vt:lpstr>
      <vt:lpstr>Why you should think about OA</vt:lpstr>
      <vt:lpstr>Open Access citation advantage</vt:lpstr>
      <vt:lpstr>Gold OA journals without fees</vt:lpstr>
      <vt:lpstr>Case study: Glossa</vt:lpstr>
      <vt:lpstr>Case study: Journal of Historical Syntax</vt:lpstr>
      <vt:lpstr>What about books?</vt:lpstr>
      <vt:lpstr>Case study: Language Science Press</vt:lpstr>
    </vt:vector>
  </TitlesOfParts>
  <Company>University of Manchester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Access publishing</dc:title>
  <dc:creator>George Walkden</dc:creator>
  <cp:lastModifiedBy>George Walkden</cp:lastModifiedBy>
  <cp:revision>24</cp:revision>
  <cp:lastPrinted>2021-08-05T22:03:40Z</cp:lastPrinted>
  <dcterms:created xsi:type="dcterms:W3CDTF">2014-08-24T20:22:06Z</dcterms:created>
  <dcterms:modified xsi:type="dcterms:W3CDTF">2021-08-05T22:09:48Z</dcterms:modified>
</cp:coreProperties>
</file>